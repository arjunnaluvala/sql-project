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83" r:id="rId3"/>
    <p:sldId id="285" r:id="rId4"/>
    <p:sldId id="262" r:id="rId5"/>
    <p:sldId id="263" r:id="rId6"/>
    <p:sldId id="264" r:id="rId7"/>
    <p:sldId id="265" r:id="rId8"/>
    <p:sldId id="266" r:id="rId9"/>
    <p:sldId id="312" r:id="rId10"/>
    <p:sldId id="267" r:id="rId11"/>
    <p:sldId id="288" r:id="rId12"/>
    <p:sldId id="269" r:id="rId13"/>
    <p:sldId id="286" r:id="rId14"/>
    <p:sldId id="289" r:id="rId15"/>
    <p:sldId id="293" r:id="rId16"/>
    <p:sldId id="287" r:id="rId17"/>
    <p:sldId id="290" r:id="rId18"/>
    <p:sldId id="291" r:id="rId19"/>
    <p:sldId id="292" r:id="rId20"/>
    <p:sldId id="268" r:id="rId21"/>
    <p:sldId id="294" r:id="rId22"/>
    <p:sldId id="295" r:id="rId23"/>
    <p:sldId id="296" r:id="rId24"/>
    <p:sldId id="297" r:id="rId25"/>
    <p:sldId id="298" r:id="rId26"/>
    <p:sldId id="299" r:id="rId27"/>
    <p:sldId id="300" r:id="rId28"/>
    <p:sldId id="301" r:id="rId29"/>
    <p:sldId id="302" r:id="rId30"/>
    <p:sldId id="303" r:id="rId31"/>
    <p:sldId id="304" r:id="rId32"/>
    <p:sldId id="305" r:id="rId33"/>
    <p:sldId id="306" r:id="rId34"/>
    <p:sldId id="307" r:id="rId35"/>
    <p:sldId id="308" r:id="rId36"/>
    <p:sldId id="310" r:id="rId37"/>
    <p:sldId id="311" r:id="rId38"/>
    <p:sldId id="309" r:id="rId39"/>
    <p:sldId id="259" r:id="rId40"/>
  </p:sldIdLst>
  <p:sldSz cx="12192000" cy="6858000"/>
  <p:notesSz cx="6858000" cy="9144000"/>
  <p:embeddedFontLst>
    <p:embeddedFont>
      <p:font typeface="Lato Black" panose="020F0502020204030203" pitchFamily="34" charset="0"/>
      <p:bold r:id="rId42"/>
      <p:boldItalic r:id="rId43"/>
    </p:embeddedFont>
    <p:embeddedFont>
      <p:font typeface="Libre Baskerville" panose="02000000000000000000" pitchFamily="2" charset="0"/>
      <p:regular r:id="rId44"/>
      <p:bold r:id="rId45"/>
      <p: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8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25F282-3E32-4AFA-A55D-85476ED81120}" v="171" dt="2026-03-28T12:41:42.6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4.fntdata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337ACCAF-051A-591F-31CD-A46138D94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5CCACCF2-0341-503F-413C-097B004CBA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C06DDA4B-471C-5749-9CF2-34A5A1C57C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076942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 b="58717"/>
          <a:stretch/>
        </p:blipFill>
        <p:spPr>
          <a:xfrm>
            <a:off x="0" y="-314960"/>
            <a:ext cx="12190815" cy="276352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013909" y="2932154"/>
            <a:ext cx="8162995" cy="1600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I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0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Grocery Store Data Analysis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using SQL</a:t>
            </a:r>
            <a:endParaRPr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B14C89-E2A2-55A1-5D07-425DD123F1D7}"/>
              </a:ext>
            </a:extLst>
          </p:cNvPr>
          <p:cNvSpPr txBox="1"/>
          <p:nvPr/>
        </p:nvSpPr>
        <p:spPr>
          <a:xfrm>
            <a:off x="906259" y="5258372"/>
            <a:ext cx="31095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tx1"/>
                </a:solidFill>
              </a:rPr>
              <a:t>Presented By:</a:t>
            </a:r>
          </a:p>
          <a:p>
            <a:r>
              <a:rPr lang="en-IN" sz="2400" b="1" dirty="0">
                <a:solidFill>
                  <a:schemeClr val="tx1"/>
                </a:solidFill>
              </a:rPr>
              <a:t>Arjun Naluvala</a:t>
            </a:r>
          </a:p>
          <a:p>
            <a:endParaRPr lang="en-IN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D61F40A-9B8E-73D1-2C44-CC565FB5E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FA72EEE9-D76D-BB5D-4F5E-83E9424B8121}"/>
              </a:ext>
            </a:extLst>
          </p:cNvPr>
          <p:cNvSpPr txBox="1"/>
          <p:nvPr/>
        </p:nvSpPr>
        <p:spPr>
          <a:xfrm>
            <a:off x="667474" y="848634"/>
            <a:ext cx="6099463" cy="535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Lato Black"/>
                <a:cs typeface="Times New Roman" panose="02020603050405020304" pitchFamily="18" charset="0"/>
                <a:sym typeface="Lato Black"/>
              </a:rPr>
              <a:t>Introduction</a:t>
            </a:r>
            <a:endParaRPr sz="3600" b="1" i="0" u="none" strike="noStrike" cap="none" dirty="0">
              <a:solidFill>
                <a:srgbClr val="FF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CA7770-7209-B245-8D2D-8F64BD045E2F}"/>
              </a:ext>
            </a:extLst>
          </p:cNvPr>
          <p:cNvSpPr txBox="1"/>
          <p:nvPr/>
        </p:nvSpPr>
        <p:spPr>
          <a:xfrm>
            <a:off x="667474" y="1557362"/>
            <a:ext cx="11209678" cy="4843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/>
              <a:t>Grocery Store Management System (SQL Project)</a:t>
            </a:r>
            <a:endParaRPr lang="en-GB" sz="28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/>
              <a:t>This project focuses on designing and analysing a relational database for a grocery store.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/>
              <a:t>It integrates key business entities such as customers, products, suppliers, employees, and orders to simulate real-world retail operations.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/>
              <a:t>The project leverages SQL to manage data efficiently and extract meaningful business insights.</a:t>
            </a:r>
          </a:p>
          <a:p>
            <a:pPr>
              <a:lnSpc>
                <a:spcPct val="150000"/>
              </a:lnSpc>
            </a:pPr>
            <a:endParaRPr lang="en-GB" sz="1800" dirty="0"/>
          </a:p>
          <a:p>
            <a:pPr>
              <a:lnSpc>
                <a:spcPct val="150000"/>
              </a:lnSpc>
            </a:pP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3387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443FE3-A0BE-4AF8-1EBE-038A50F87B85}"/>
              </a:ext>
            </a:extLst>
          </p:cNvPr>
          <p:cNvSpPr txBox="1"/>
          <p:nvPr/>
        </p:nvSpPr>
        <p:spPr>
          <a:xfrm>
            <a:off x="775398" y="492370"/>
            <a:ext cx="10641204" cy="5104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en-GB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  <a:endParaRPr lang="en-GB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analyzes a grocery store database focusing upon: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top customers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best-selling products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revenue trends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employee performance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top suppliers</a:t>
            </a:r>
          </a:p>
        </p:txBody>
      </p:sp>
    </p:spTree>
    <p:extLst>
      <p:ext uri="{BB962C8B-B14F-4D97-AF65-F5344CB8AC3E}">
        <p14:creationId xmlns:p14="http://schemas.microsoft.com/office/powerpoint/2010/main" val="3387375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D6956-4CEA-E2A0-6FBC-0ECF7954E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07736"/>
            <a:ext cx="4597958" cy="1132079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</a:t>
            </a:r>
            <a:endParaRPr lang="en-IN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3C79DE-2216-8A7E-340F-26247778E5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39815"/>
            <a:ext cx="10515600" cy="4351338"/>
          </a:xfrm>
        </p:spPr>
        <p:txBody>
          <a:bodyPr/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Queries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 (EER Model)</a:t>
            </a:r>
          </a:p>
          <a:p>
            <a:pPr marL="114300" indent="0">
              <a:buNone/>
            </a:pPr>
            <a:endParaRPr lang="en-IN" dirty="0"/>
          </a:p>
          <a:p>
            <a:endParaRPr lang="en-IN" dirty="0"/>
          </a:p>
          <a:p>
            <a:pPr marL="11430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003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E7169-565E-8BE8-E892-16800D2D1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Creation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8C80E96-4905-E00C-9925-DB0D7A532A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292484"/>
            <a:ext cx="8946822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Created database: grocery store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SQL commands: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CREATE DATABASE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C2DCDD-1F99-3470-18FF-680750107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0973" y="3371222"/>
            <a:ext cx="7268438" cy="2044785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45E3F0-5A42-1D57-517D-25BCAD8D5E61}"/>
              </a:ext>
            </a:extLst>
          </p:cNvPr>
          <p:cNvSpPr txBox="1"/>
          <p:nvPr/>
        </p:nvSpPr>
        <p:spPr>
          <a:xfrm>
            <a:off x="3300972" y="5572702"/>
            <a:ext cx="72684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/>
              <a:t>Fig</a:t>
            </a:r>
            <a:r>
              <a:rPr lang="en-GB" sz="2000" dirty="0"/>
              <a:t>. SQL code snippet showing creation of</a:t>
            </a:r>
          </a:p>
          <a:p>
            <a:pPr algn="ctr"/>
            <a:r>
              <a:rPr lang="en-GB" sz="2000" dirty="0"/>
              <a:t>grocery store database</a:t>
            </a:r>
          </a:p>
        </p:txBody>
      </p:sp>
    </p:spTree>
    <p:extLst>
      <p:ext uri="{BB962C8B-B14F-4D97-AF65-F5344CB8AC3E}">
        <p14:creationId xmlns:p14="http://schemas.microsoft.com/office/powerpoint/2010/main" val="4145630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02F61-12F8-3053-9D4C-EA5369A98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402204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Tables Created</a:t>
            </a:r>
            <a:endParaRPr lang="en-IN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AD8D74-531C-E6E8-34FC-1411078F7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0604" y="1253331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Suppliers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Categories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Products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Employees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Details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5A34CF-D8CB-59F9-C131-B787CDC1F923}"/>
              </a:ext>
            </a:extLst>
          </p:cNvPr>
          <p:cNvSpPr txBox="1"/>
          <p:nvPr/>
        </p:nvSpPr>
        <p:spPr>
          <a:xfrm>
            <a:off x="3476199" y="4920493"/>
            <a:ext cx="83545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Showing the created tables in grocery store database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20DA54-CBB3-A186-B359-FB5E39615D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0518" y="2310472"/>
            <a:ext cx="6145951" cy="247939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8011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F9F1F-C8EF-05D9-89D3-67F1CFB60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Structure</a:t>
            </a:r>
            <a:endParaRPr lang="en-IN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69D981-58BF-9B12-D1EE-8A491685FC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478" y="1594976"/>
            <a:ext cx="3014669" cy="2243495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Keys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</a:t>
            </a:r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B18943-A82E-D4CB-0AB8-9CB5C0846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4902" y="753626"/>
            <a:ext cx="6941454" cy="47621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374B494-45D3-937B-D68F-0D859E7D0E3D}"/>
              </a:ext>
            </a:extLst>
          </p:cNvPr>
          <p:cNvSpPr txBox="1"/>
          <p:nvPr/>
        </p:nvSpPr>
        <p:spPr>
          <a:xfrm>
            <a:off x="4664902" y="5707464"/>
            <a:ext cx="69414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Preview of a table (Products Table)</a:t>
            </a:r>
          </a:p>
        </p:txBody>
      </p:sp>
    </p:spTree>
    <p:extLst>
      <p:ext uri="{BB962C8B-B14F-4D97-AF65-F5344CB8AC3E}">
        <p14:creationId xmlns:p14="http://schemas.microsoft.com/office/powerpoint/2010/main" val="4191745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2C650-6B12-9792-F238-B06CC3444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349" y="483110"/>
            <a:ext cx="10515600" cy="1325563"/>
          </a:xfrm>
        </p:spPr>
        <p:txBody>
          <a:bodyPr/>
          <a:lstStyle/>
          <a:p>
            <a:r>
              <a:rPr lang="en-US" sz="3600" b="1" dirty="0">
                <a:solidFill>
                  <a:srgbClr val="FF0000"/>
                </a:solidFill>
              </a:rPr>
              <a:t>EER Diagram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20B82C-19A9-DD70-23DC-D7E05C5663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7523" y="1027905"/>
            <a:ext cx="11012696" cy="5746521"/>
          </a:xfrm>
        </p:spPr>
        <p:txBody>
          <a:bodyPr>
            <a:noAutofit/>
          </a:bodyPr>
          <a:lstStyle/>
          <a:p>
            <a:pPr marL="114300" indent="0">
              <a:lnSpc>
                <a:spcPct val="16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→ Orders : </a:t>
            </a:r>
            <a:r>
              <a:rPr lang="en-GB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connected using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CustomerID</a:t>
            </a:r>
            <a:r>
              <a:rPr lang="en-GB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as a foreign key.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6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Employees → Orders : </a:t>
            </a:r>
            <a:r>
              <a:rPr lang="en-GB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connected using </a:t>
            </a:r>
            <a:r>
              <a:rPr lang="en-GB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EmployeeID</a:t>
            </a:r>
            <a:r>
              <a:rPr lang="en-GB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as a foreign key.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6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Suppliers → Products : </a:t>
            </a:r>
            <a:r>
              <a:rPr lang="en-GB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connected using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SupplierID</a:t>
            </a:r>
            <a:r>
              <a:rPr lang="en-GB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as a foreign key.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6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Categories → Products : </a:t>
            </a:r>
            <a:r>
              <a:rPr lang="en-GB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connected using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CategoryID</a:t>
            </a:r>
            <a:r>
              <a:rPr lang="en-GB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as a foreign key.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6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 → Order Details : </a:t>
            </a:r>
            <a:r>
              <a:rPr lang="en-GB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connected using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 a foreign key.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6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Products → Order Details : </a:t>
            </a:r>
            <a:r>
              <a:rPr lang="en-GB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connected using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 a foreign key.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6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all the above tables are connected as one to many relationships</a:t>
            </a:r>
          </a:p>
        </p:txBody>
      </p:sp>
    </p:spTree>
    <p:extLst>
      <p:ext uri="{BB962C8B-B14F-4D97-AF65-F5344CB8AC3E}">
        <p14:creationId xmlns:p14="http://schemas.microsoft.com/office/powerpoint/2010/main" val="2437281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2C650-6B12-9792-F238-B06CC3444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FF0000"/>
                </a:solidFill>
              </a:rPr>
              <a:t>EER Diagram</a:t>
            </a:r>
            <a:br>
              <a:rPr lang="en-US" b="1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EB8094-20A5-C245-D289-81420502B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225" y="1028809"/>
            <a:ext cx="6300083" cy="480038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37AC28-02A5-CAEF-0BE9-6DB0C61BE11C}"/>
              </a:ext>
            </a:extLst>
          </p:cNvPr>
          <p:cNvSpPr txBox="1"/>
          <p:nvPr/>
        </p:nvSpPr>
        <p:spPr>
          <a:xfrm>
            <a:off x="2901509" y="5976675"/>
            <a:ext cx="61535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This EER Diagram shows how tables are inter-related</a:t>
            </a:r>
          </a:p>
        </p:txBody>
      </p:sp>
    </p:spTree>
    <p:extLst>
      <p:ext uri="{BB962C8B-B14F-4D97-AF65-F5344CB8AC3E}">
        <p14:creationId xmlns:p14="http://schemas.microsoft.com/office/powerpoint/2010/main" val="2187408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8913B-3BB6-265B-E5F2-C1139B9B2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87743" cy="5915095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SECTION</a:t>
            </a:r>
          </a:p>
        </p:txBody>
      </p:sp>
    </p:spTree>
    <p:extLst>
      <p:ext uri="{BB962C8B-B14F-4D97-AF65-F5344CB8AC3E}">
        <p14:creationId xmlns:p14="http://schemas.microsoft.com/office/powerpoint/2010/main" val="3018813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2F197-BA55-CFFE-95E5-8BA993818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0B85A-E8D7-C286-3708-6D4AFFB3C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151091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Customer Insights</a:t>
            </a:r>
            <a:br>
              <a:rPr lang="en-IN" sz="3600" b="1" dirty="0"/>
            </a:br>
            <a:br>
              <a:rPr lang="en-IN" sz="3600" b="1" dirty="0"/>
            </a:br>
            <a:r>
              <a:rPr lang="en-IN" sz="3600" dirty="0"/>
              <a:t>Q1. 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unique customers have placed orders?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C892A4B-C848-DB9D-8649-561206380E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5683414"/>
            <a:ext cx="630526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Observation: 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Unique Customers: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156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DF2340-C56C-28AB-B083-BD67E3EA28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7261" y="3484319"/>
            <a:ext cx="5172303" cy="155415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D4E41CAD-3215-B491-55D5-56F96E0472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7383" y="5086105"/>
            <a:ext cx="599206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None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Fig. 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Displaying the total number of customers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8B3C62-C49B-C57F-80EF-C7F0B9D1A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608" y="2498004"/>
            <a:ext cx="5724950" cy="112520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579892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25531-4C68-A4D9-5A2F-EADD4AF3F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08DE32-2A61-DC4D-79B3-69AC677F18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6065" y="5405083"/>
            <a:ext cx="6493623" cy="858065"/>
          </a:xfrm>
        </p:spPr>
        <p:txBody>
          <a:bodyPr>
            <a:normAutofit/>
          </a:bodyPr>
          <a:lstStyle/>
          <a:p>
            <a:pPr marL="11430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Displaying the top 5 customers based on number of orders placed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7CDA44-BAD6-1363-142C-B0BE3494F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6065" y="3103671"/>
            <a:ext cx="6493623" cy="223343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D05672-BD87-C0ED-222A-B4159D3E4343}"/>
              </a:ext>
            </a:extLst>
          </p:cNvPr>
          <p:cNvSpPr txBox="1"/>
          <p:nvPr/>
        </p:nvSpPr>
        <p:spPr>
          <a:xfrm>
            <a:off x="554497" y="868142"/>
            <a:ext cx="1080951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Q2. Which customers have placed the highest number of orders?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B0B397-33B0-5990-6FAF-3F25C062C8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875" y="1594636"/>
            <a:ext cx="4663538" cy="199413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97449E-564B-9BB3-059B-061E094F18F7}"/>
              </a:ext>
            </a:extLst>
          </p:cNvPr>
          <p:cNvSpPr txBox="1"/>
          <p:nvPr/>
        </p:nvSpPr>
        <p:spPr>
          <a:xfrm>
            <a:off x="696875" y="4232422"/>
            <a:ext cx="4663538" cy="212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 </a:t>
            </a:r>
          </a:p>
          <a:p>
            <a:pPr>
              <a:lnSpc>
                <a:spcPct val="150000"/>
              </a:lnSpc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top 5 customers are led by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Chetan Naidu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10 orders. Customers named “Chetan” dominate the list, showing they are the most frequent buyers.</a:t>
            </a:r>
          </a:p>
        </p:txBody>
      </p:sp>
    </p:spTree>
    <p:extLst>
      <p:ext uri="{BB962C8B-B14F-4D97-AF65-F5344CB8AC3E}">
        <p14:creationId xmlns:p14="http://schemas.microsoft.com/office/powerpoint/2010/main" val="20633823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2A8DD-39AC-46D7-6AAD-38AF60AD9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F3193-1BFD-75FB-4E60-1941C1866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9EA0FB-0A54-FED6-04D8-2F9C6267F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25323" y="5459439"/>
            <a:ext cx="5294580" cy="818535"/>
          </a:xfrm>
        </p:spPr>
        <p:txBody>
          <a:bodyPr>
            <a:normAutofit/>
          </a:bodyPr>
          <a:lstStyle/>
          <a:p>
            <a:pPr marL="11430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Displaying the Total and Average Purchase value per Customer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354BB7-98A0-64FA-25BC-7A1915D30C2D}"/>
              </a:ext>
            </a:extLst>
          </p:cNvPr>
          <p:cNvSpPr txBox="1"/>
          <p:nvPr/>
        </p:nvSpPr>
        <p:spPr>
          <a:xfrm>
            <a:off x="554497" y="868142"/>
            <a:ext cx="1080951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Q3. 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total and average purchase value per customer?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EA544C-D864-EB33-88CE-704C1528A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1910" y="1452917"/>
            <a:ext cx="4896464" cy="406087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965A7A-50B2-70BF-3A39-F63124E162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900" y="1690688"/>
            <a:ext cx="4984642" cy="242615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1580E32-292A-15B2-A3D9-AD684ACB32E0}"/>
              </a:ext>
            </a:extLst>
          </p:cNvPr>
          <p:cNvSpPr txBox="1"/>
          <p:nvPr/>
        </p:nvSpPr>
        <p:spPr>
          <a:xfrm>
            <a:off x="677617" y="4191656"/>
            <a:ext cx="6096000" cy="2535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>
              <a:lnSpc>
                <a:spcPct val="150000"/>
              </a:lnSpc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shows that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Chetan Naidu 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Gita Menon 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the top spenders overall, while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Isha Menon 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Deepa Menon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have the highest average spend per order. Spending patterns vary widely, with some customers placing fewer but higher-value orders.</a:t>
            </a:r>
          </a:p>
        </p:txBody>
      </p:sp>
    </p:spTree>
    <p:extLst>
      <p:ext uri="{BB962C8B-B14F-4D97-AF65-F5344CB8AC3E}">
        <p14:creationId xmlns:p14="http://schemas.microsoft.com/office/powerpoint/2010/main" val="21609633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602A9-B0E7-AC3E-41B4-0F2FA1C7E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71623-DFB1-72CB-5B7F-18A05937A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1D29A0-D2DD-1220-5926-CEAFABADC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24084" y="3841734"/>
            <a:ext cx="5882896" cy="1192382"/>
          </a:xfrm>
        </p:spPr>
        <p:txBody>
          <a:bodyPr>
            <a:normAutofit/>
          </a:bodyPr>
          <a:lstStyle/>
          <a:p>
            <a:pPr marL="11430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Displaying the Top 5 Customers based on Total Purchase Amount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52A770-4CA9-3640-A080-A3B2FC257B61}"/>
              </a:ext>
            </a:extLst>
          </p:cNvPr>
          <p:cNvSpPr txBox="1"/>
          <p:nvPr/>
        </p:nvSpPr>
        <p:spPr>
          <a:xfrm>
            <a:off x="554497" y="868142"/>
            <a:ext cx="1080951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Q4. 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are the top 5 customers by total purchase amount?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37ECC8-58AC-9D28-95DD-BD3956FD3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9839" y="1707809"/>
            <a:ext cx="5971387" cy="200153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577C46-D26D-B35D-4E67-BAE28DD53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884" y="1707809"/>
            <a:ext cx="4682823" cy="260855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6E0B411-73D4-5FD7-CE8C-9940D9951AC7}"/>
              </a:ext>
            </a:extLst>
          </p:cNvPr>
          <p:cNvSpPr txBox="1"/>
          <p:nvPr/>
        </p:nvSpPr>
        <p:spPr>
          <a:xfrm>
            <a:off x="670359" y="5034116"/>
            <a:ext cx="52683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shows that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Gita Menon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Eshwar Rao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the top spenders overall</a:t>
            </a:r>
          </a:p>
        </p:txBody>
      </p:sp>
    </p:spTree>
    <p:extLst>
      <p:ext uri="{BB962C8B-B14F-4D97-AF65-F5344CB8AC3E}">
        <p14:creationId xmlns:p14="http://schemas.microsoft.com/office/powerpoint/2010/main" val="41634179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F2B48-43F5-3A1F-292B-627A9B2E3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25C22-7F38-CE84-60AF-4929E81A9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151091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Performance</a:t>
            </a:r>
            <a:br>
              <a:rPr lang="en-IN" sz="3600" b="1" dirty="0"/>
            </a:br>
            <a:br>
              <a:rPr lang="en-IN" sz="3600" b="1" dirty="0"/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Q1. 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products exist in each category?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57ADA1C-786B-2589-B688-36410F8144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965393" y="4393572"/>
            <a:ext cx="601045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Displaying Number of products existing in each category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FF028C-70B8-ADC1-B061-F52A74BCC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5395" y="2396369"/>
            <a:ext cx="6010454" cy="178234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3FEDAC8-F719-3428-CF86-D0EE99639D1B}"/>
              </a:ext>
            </a:extLst>
          </p:cNvPr>
          <p:cNvSpPr txBox="1"/>
          <p:nvPr/>
        </p:nvSpPr>
        <p:spPr>
          <a:xfrm>
            <a:off x="970340" y="4822100"/>
            <a:ext cx="6096000" cy="1704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>
              <a:lnSpc>
                <a:spcPct val="150000"/>
              </a:lnSpc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Grains &amp; Cereals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Snacks &amp; Confectioneries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have the most products, while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Household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the fewest, showing product distribution is concentrated in food-related categories.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D89E78B-F59E-E7B8-5C44-EC10CD5E2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340" y="2396369"/>
            <a:ext cx="4566589" cy="178234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164362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10816-1540-F9A8-B8B5-E1F0CE0C2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20787-BD6C-575F-A83D-C5142985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32CF0E-00DE-3A82-BA5D-59E4E0C15D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8226" y="3761131"/>
            <a:ext cx="6875955" cy="584776"/>
          </a:xfrm>
        </p:spPr>
        <p:txBody>
          <a:bodyPr>
            <a:normAutofit/>
          </a:bodyPr>
          <a:lstStyle/>
          <a:p>
            <a:pPr marL="11430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Displaying the Average price of products for each Category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4D9E8E-4CAC-9C68-8772-60E7F3E79FBB}"/>
              </a:ext>
            </a:extLst>
          </p:cNvPr>
          <p:cNvSpPr txBox="1"/>
          <p:nvPr/>
        </p:nvSpPr>
        <p:spPr>
          <a:xfrm>
            <a:off x="554497" y="868142"/>
            <a:ext cx="1080951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GB" sz="3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average price of products by category?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986AFC-4C2E-9144-C771-7E2D68F4FF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9" y="1690688"/>
            <a:ext cx="6420089" cy="196713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9F2687-E378-547D-EDB3-A4C5E7C769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90688"/>
            <a:ext cx="4557770" cy="196713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A509F9E-5041-6BE3-0AE2-F47E4A23803C}"/>
              </a:ext>
            </a:extLst>
          </p:cNvPr>
          <p:cNvSpPr txBox="1"/>
          <p:nvPr/>
        </p:nvSpPr>
        <p:spPr>
          <a:xfrm>
            <a:off x="838200" y="4449213"/>
            <a:ext cx="6096000" cy="1704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>
              <a:lnSpc>
                <a:spcPct val="150000"/>
              </a:lnSpc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Dairy Products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Care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have the highest average prices, while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Snacks &amp; Confectioneries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Grains &amp; Cereals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more affordable, indicating price variation across categories.</a:t>
            </a:r>
          </a:p>
        </p:txBody>
      </p:sp>
    </p:spTree>
    <p:extLst>
      <p:ext uri="{BB962C8B-B14F-4D97-AF65-F5344CB8AC3E}">
        <p14:creationId xmlns:p14="http://schemas.microsoft.com/office/powerpoint/2010/main" val="10122360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20EA0-7EB1-29AD-D007-E3301EE33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DA867-3051-8DC9-9C3D-1EA80BC6D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B26CDA-B575-D0F5-CE7E-B780591B9B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27880" y="3839739"/>
            <a:ext cx="6587987" cy="584776"/>
          </a:xfrm>
        </p:spPr>
        <p:txBody>
          <a:bodyPr>
            <a:normAutofit/>
          </a:bodyPr>
          <a:lstStyle/>
          <a:p>
            <a:pPr marL="11430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Displaying the Top 5 best-selling products (by quantity)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5ABBEF-4A66-A4CD-AD92-B67804FC2532}"/>
              </a:ext>
            </a:extLst>
          </p:cNvPr>
          <p:cNvSpPr txBox="1"/>
          <p:nvPr/>
        </p:nvSpPr>
        <p:spPr>
          <a:xfrm>
            <a:off x="462224" y="868142"/>
            <a:ext cx="1163599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Q3. 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products have the highest total sales volume </a:t>
            </a:r>
          </a:p>
          <a:p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(by quantity)?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A60A07-580F-DEEE-614B-C16EE2B29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866" y="2088440"/>
            <a:ext cx="6145160" cy="177939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BDCB19-EDB0-B44F-A901-0A3D46E56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891" y="2081066"/>
            <a:ext cx="5082823" cy="234344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0F75A9F-C672-EBAE-2637-5517233F55E7}"/>
              </a:ext>
            </a:extLst>
          </p:cNvPr>
          <p:cNvSpPr txBox="1"/>
          <p:nvPr/>
        </p:nvSpPr>
        <p:spPr>
          <a:xfrm>
            <a:off x="462224" y="4560221"/>
            <a:ext cx="6096000" cy="212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>
              <a:lnSpc>
                <a:spcPct val="150000"/>
              </a:lnSpc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top sellers are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Bath Soap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(60 units) and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 Sanitizer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(56 units), followed closely by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Dishwashing Soap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Biscuits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Potato Chips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(54 units each), showing both hygiene and snack items are highly popular.</a:t>
            </a:r>
          </a:p>
        </p:txBody>
      </p:sp>
    </p:spTree>
    <p:extLst>
      <p:ext uri="{BB962C8B-B14F-4D97-AF65-F5344CB8AC3E}">
        <p14:creationId xmlns:p14="http://schemas.microsoft.com/office/powerpoint/2010/main" val="42061041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F1396-F174-A13F-C5D9-B7BCDEB25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77898-539B-02DD-2424-77F23F8D2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2CF280-6C6B-2F2C-3534-DAC1227F1B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79725" y="5697470"/>
            <a:ext cx="5168202" cy="584775"/>
          </a:xfrm>
        </p:spPr>
        <p:txBody>
          <a:bodyPr>
            <a:normAutofit/>
          </a:bodyPr>
          <a:lstStyle/>
          <a:p>
            <a:pPr marL="11430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Revenue Generated by each Product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6E80F5-BC3C-035A-1A30-A0A73467A62A}"/>
              </a:ext>
            </a:extLst>
          </p:cNvPr>
          <p:cNvSpPr txBox="1"/>
          <p:nvPr/>
        </p:nvSpPr>
        <p:spPr>
          <a:xfrm>
            <a:off x="462224" y="868142"/>
            <a:ext cx="116359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Q4. 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total revenue generated by each product?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A4D326-64E7-6C2F-E5B3-E8C14DE402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4726" y="1452917"/>
            <a:ext cx="4638199" cy="42991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52EDD7-8E39-BA79-2FC5-89130F5B47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075" y="1609471"/>
            <a:ext cx="5613067" cy="213564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FCED6A6-821C-56D5-BB5D-86354253A9B3}"/>
              </a:ext>
            </a:extLst>
          </p:cNvPr>
          <p:cNvSpPr txBox="1"/>
          <p:nvPr/>
        </p:nvSpPr>
        <p:spPr>
          <a:xfrm>
            <a:off x="616226" y="4259370"/>
            <a:ext cx="6096000" cy="1704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>
              <a:lnSpc>
                <a:spcPct val="150000"/>
              </a:lnSpc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 Sanitizer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leads in revenue (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₹27,787.76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followed by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Biscuits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Moong Dal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Toothpaste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showing that both hygiene and staple/snack items generate the highest sales value.</a:t>
            </a:r>
          </a:p>
        </p:txBody>
      </p:sp>
    </p:spTree>
    <p:extLst>
      <p:ext uri="{BB962C8B-B14F-4D97-AF65-F5344CB8AC3E}">
        <p14:creationId xmlns:p14="http://schemas.microsoft.com/office/powerpoint/2010/main" val="4788828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500FB-D995-7270-22A4-0DD7B6E4B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2B672-40B9-BB34-BE45-9FC996E35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1BB781-6806-02B9-0AB0-C98BBA10EC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9280" y="5598922"/>
            <a:ext cx="5919046" cy="992275"/>
          </a:xfrm>
        </p:spPr>
        <p:txBody>
          <a:bodyPr>
            <a:noAutofit/>
          </a:bodyPr>
          <a:lstStyle/>
          <a:p>
            <a:pPr marL="11430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variation in Product sales by category and supplier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F63FCD-DD6E-E1BE-90F6-EC917308C739}"/>
              </a:ext>
            </a:extLst>
          </p:cNvPr>
          <p:cNvSpPr txBox="1"/>
          <p:nvPr/>
        </p:nvSpPr>
        <p:spPr>
          <a:xfrm>
            <a:off x="462224" y="868142"/>
            <a:ext cx="116359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Q5. 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product sales vary by category and supplier?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93CA9B-F279-F191-03D8-3D710A76D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219" y="1533103"/>
            <a:ext cx="5477168" cy="415079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CAA9A93-3B05-ED91-ACF3-D5BBB8C6F95C}"/>
              </a:ext>
            </a:extLst>
          </p:cNvPr>
          <p:cNvSpPr txBox="1"/>
          <p:nvPr/>
        </p:nvSpPr>
        <p:spPr>
          <a:xfrm>
            <a:off x="730181" y="4352897"/>
            <a:ext cx="5365819" cy="2397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>
              <a:lnSpc>
                <a:spcPct val="150000"/>
              </a:lnSpc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shows the total quantity sold and revenue generated for each category–supplier combination, helping identify which ones contribute the most to sales. Here, Supplier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Aarya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sold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205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Personal Care products generating the highest revenue of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Rs. 69378.41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4A4B1A-2EB8-762C-8EC2-8F699CF05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181" y="1533103"/>
            <a:ext cx="4725059" cy="281979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718261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1C872-0741-7CFF-99CC-F9ED42BFA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151091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and Order Trends</a:t>
            </a:r>
            <a:br>
              <a:rPr lang="en-IN" sz="3600" b="1" dirty="0"/>
            </a:br>
            <a:br>
              <a:rPr lang="en-IN" sz="3600" b="1" dirty="0"/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Q1. 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orders have been placed in total?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5E9CB00-274C-2D10-5A83-093EDE6A31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367067" y="4900342"/>
            <a:ext cx="533476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Displaying the total number of Orders placed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A34229-CC59-7B7F-4D5F-2BE241B88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1033" y="3871719"/>
            <a:ext cx="5626837" cy="94013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C3B5DD-0364-F8AF-84D1-CC1975B49D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247" y="2433061"/>
            <a:ext cx="4413745" cy="127151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733593F-57B7-9698-53F7-3FDEB46D25DA}"/>
              </a:ext>
            </a:extLst>
          </p:cNvPr>
          <p:cNvSpPr txBox="1"/>
          <p:nvPr/>
        </p:nvSpPr>
        <p:spPr>
          <a:xfrm>
            <a:off x="1098247" y="5100397"/>
            <a:ext cx="6096000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>
              <a:lnSpc>
                <a:spcPct val="150000"/>
              </a:lnSpc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total number of orders in the dataset is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729159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4C0BE-A573-0EDE-9580-5BD756BCE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99D68-4515-AA67-5A62-6F3B8FA60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69DE6B-3FCB-CDB3-9E94-15A60C9403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72854" y="4483651"/>
            <a:ext cx="5168202" cy="584775"/>
          </a:xfrm>
        </p:spPr>
        <p:txBody>
          <a:bodyPr>
            <a:normAutofit/>
          </a:bodyPr>
          <a:lstStyle/>
          <a:p>
            <a:pPr marL="11430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Displaying the Average Order Value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64D0FC-9900-FADB-5CE6-982F091A95BB}"/>
              </a:ext>
            </a:extLst>
          </p:cNvPr>
          <p:cNvSpPr txBox="1"/>
          <p:nvPr/>
        </p:nvSpPr>
        <p:spPr>
          <a:xfrm>
            <a:off x="462224" y="868142"/>
            <a:ext cx="116359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Q2. 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average value per order?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F83771-FA4A-E089-4991-CF07FB4A9F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219" y="3145779"/>
            <a:ext cx="5753473" cy="12100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8C13CA-B14F-8426-D3B8-702936F8D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902" y="1823311"/>
            <a:ext cx="5215950" cy="118984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C770722-B79F-372C-CBA3-CA0C1557B68D}"/>
              </a:ext>
            </a:extLst>
          </p:cNvPr>
          <p:cNvSpPr txBox="1"/>
          <p:nvPr/>
        </p:nvSpPr>
        <p:spPr>
          <a:xfrm>
            <a:off x="450944" y="4360645"/>
            <a:ext cx="5477908" cy="1704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>
              <a:lnSpc>
                <a:spcPct val="150000"/>
              </a:lnSpc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order value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all orders is approximately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₹918.88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the typical spending per order.</a:t>
            </a:r>
          </a:p>
        </p:txBody>
      </p:sp>
    </p:spTree>
    <p:extLst>
      <p:ext uri="{BB962C8B-B14F-4D97-AF65-F5344CB8AC3E}">
        <p14:creationId xmlns:p14="http://schemas.microsoft.com/office/powerpoint/2010/main" val="28718071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F43C5-4C9B-963C-D36B-A137967A2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B1244-ABF5-DD24-F7F1-3D2257061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018AF-EC5B-9F95-69FD-8CDB19E2F9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2145" y="4697358"/>
            <a:ext cx="5894512" cy="584775"/>
          </a:xfrm>
        </p:spPr>
        <p:txBody>
          <a:bodyPr>
            <a:normAutofit fontScale="85000" lnSpcReduction="10000"/>
          </a:bodyPr>
          <a:lstStyle/>
          <a:p>
            <a:pPr marL="11430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Displaying the Peak Order Dates based on Order Count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71F7A8-6FA4-6DB7-CEAB-EA2B250ED8C7}"/>
              </a:ext>
            </a:extLst>
          </p:cNvPr>
          <p:cNvSpPr txBox="1"/>
          <p:nvPr/>
        </p:nvSpPr>
        <p:spPr>
          <a:xfrm>
            <a:off x="462224" y="868142"/>
            <a:ext cx="116359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Q3. 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which dates were the most orders placed?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44CFB2-DDF4-F9C7-D0CB-6DEAA9255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2145" y="2918194"/>
            <a:ext cx="5894512" cy="166646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E374968-DAD6-9729-13FE-A2FD5DAE3DE1}"/>
              </a:ext>
            </a:extLst>
          </p:cNvPr>
          <p:cNvSpPr txBox="1"/>
          <p:nvPr/>
        </p:nvSpPr>
        <p:spPr>
          <a:xfrm>
            <a:off x="707922" y="4429849"/>
            <a:ext cx="5004619" cy="1704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>
              <a:lnSpc>
                <a:spcPct val="150000"/>
              </a:lnSpc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peak order dates are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March 30, 2022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September 10, 2022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each with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orders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these days saw the highest customer activity.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2495539-44D1-369F-8303-475A718F95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431" y="1690688"/>
            <a:ext cx="4719484" cy="232844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507872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E8DC3-8C14-3C3B-A657-1D60C45AB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D424B-4C23-1371-CE20-6F57DC038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4CBAAE-30B6-4BAF-38C0-C107AABF33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43888" y="5152291"/>
            <a:ext cx="4948111" cy="951944"/>
          </a:xfrm>
        </p:spPr>
        <p:txBody>
          <a:bodyPr>
            <a:normAutofit fontScale="77500" lnSpcReduction="20000"/>
          </a:bodyPr>
          <a:lstStyle/>
          <a:p>
            <a:pPr marL="114300" indent="0" algn="ctr">
              <a:lnSpc>
                <a:spcPct val="17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Displaying the Monthly Trends in Order volume and Revenue Generated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7D7429-8DB4-B0A6-C854-9C75CE28138E}"/>
              </a:ext>
            </a:extLst>
          </p:cNvPr>
          <p:cNvSpPr txBox="1"/>
          <p:nvPr/>
        </p:nvSpPr>
        <p:spPr>
          <a:xfrm>
            <a:off x="462224" y="868142"/>
            <a:ext cx="116359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Q4. 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monthly trends in order volume and revenue?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09FCCC-89F1-A345-6A04-75496AC8E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721" y="2562377"/>
            <a:ext cx="4438446" cy="267016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A9A0E67-380A-5FF7-22B0-F91C53F2ACCF}"/>
              </a:ext>
            </a:extLst>
          </p:cNvPr>
          <p:cNvSpPr txBox="1"/>
          <p:nvPr/>
        </p:nvSpPr>
        <p:spPr>
          <a:xfrm>
            <a:off x="737923" y="3903040"/>
            <a:ext cx="645834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Helps identify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 and low sales months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based on order count and revenue.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Useful for understanding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seasonal patterns and growth trends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the business.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Here, the months of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January 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October 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the highest and lowest sales months respectively.</a:t>
            </a:r>
          </a:p>
          <a:p>
            <a:endParaRPr lang="en-GB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71BB6F-BFE8-79B8-8427-D30F4B0F3B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356" y="1609867"/>
            <a:ext cx="6458348" cy="213622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341861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DAA8B-440A-0CA2-D95D-4556DAFD6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7E1B5-D53E-63B2-F2F0-2B7B3A0A0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F15044-F958-BFCD-8AA2-00DB343B3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82346" y="4093039"/>
            <a:ext cx="5555386" cy="892674"/>
          </a:xfrm>
        </p:spPr>
        <p:txBody>
          <a:bodyPr>
            <a:normAutofit/>
          </a:bodyPr>
          <a:lstStyle/>
          <a:p>
            <a:pPr marL="11430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Displaying the Order Trends – Weekdays and Weekends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9B90FA-3C66-3236-5523-BD1DA348BA1D}"/>
              </a:ext>
            </a:extLst>
          </p:cNvPr>
          <p:cNvSpPr txBox="1"/>
          <p:nvPr/>
        </p:nvSpPr>
        <p:spPr>
          <a:xfrm>
            <a:off x="462224" y="868142"/>
            <a:ext cx="116359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Q5. 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order patterns vary across weekdays and weekends?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576BCF-8897-CD98-801A-198E8ED78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346" y="2783233"/>
            <a:ext cx="5555386" cy="130980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7D16EFE-2AC2-43DB-A718-D1D9E6A68D04}"/>
              </a:ext>
            </a:extLst>
          </p:cNvPr>
          <p:cNvSpPr txBox="1"/>
          <p:nvPr/>
        </p:nvSpPr>
        <p:spPr>
          <a:xfrm>
            <a:off x="632932" y="3740890"/>
            <a:ext cx="5877234" cy="3782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 and Revenue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 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 is quite similar: 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Weekday ≈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86 orders/day 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(432 ÷ 5) :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78K/day 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Revenue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Weekend ≈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84 orders/day 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(168 ÷ 2) :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80K/day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(slightly higher)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total sales are higher on weekdays,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weekends perform equally well (or slightly better) on a per-day basis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b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57910A-71F3-6285-9C41-B148115440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86" y="1619490"/>
            <a:ext cx="4996462" cy="208971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967259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2A67B-A548-D013-91A1-F68AE289B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DA2CF-BCD3-2AE4-B360-4181DCCB0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151091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Supplier Contribution</a:t>
            </a:r>
            <a:br>
              <a:rPr lang="en-IN" sz="3600" b="1" dirty="0"/>
            </a:br>
            <a:br>
              <a:rPr lang="en-IN" sz="3600" b="1" dirty="0"/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Q1. 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suppliers are there in the database?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A64BA91-10D5-BEAF-A82D-61413E1AC6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630183" y="4626957"/>
            <a:ext cx="496479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Displaying the total number of Suppliers in the database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27BA25-ED59-0ECB-9143-C5A8AF77C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0182" y="3429000"/>
            <a:ext cx="4964797" cy="106272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40F1312-CE25-B5A1-E580-76DF2FF76F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341" y="2516216"/>
            <a:ext cx="4630559" cy="125893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B3F5342-FFB1-9E3A-F53C-BED734CAA3F0}"/>
              </a:ext>
            </a:extLst>
          </p:cNvPr>
          <p:cNvSpPr txBox="1"/>
          <p:nvPr/>
        </p:nvSpPr>
        <p:spPr>
          <a:xfrm>
            <a:off x="1022341" y="4976863"/>
            <a:ext cx="4964797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>
              <a:lnSpc>
                <a:spcPct val="150000"/>
              </a:lnSpc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a total of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suppliers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587352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ADB29-E463-591C-0042-52421D586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73562-B808-4E96-E3FD-6AC04F8E7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37F385-1DE6-199E-141A-4122C968AE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82997" y="4855432"/>
            <a:ext cx="6115218" cy="584775"/>
          </a:xfrm>
        </p:spPr>
        <p:txBody>
          <a:bodyPr>
            <a:normAutofit/>
          </a:bodyPr>
          <a:lstStyle/>
          <a:p>
            <a:pPr marL="11430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Displaying the Supplier providing most Products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095052-7A0B-B5A4-9B11-3BF71B8AFCE4}"/>
              </a:ext>
            </a:extLst>
          </p:cNvPr>
          <p:cNvSpPr txBox="1"/>
          <p:nvPr/>
        </p:nvSpPr>
        <p:spPr>
          <a:xfrm>
            <a:off x="462224" y="868142"/>
            <a:ext cx="116359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Q2. 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supplier provides the most products?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6F62A7-0025-ED9B-2A99-D459AA5F5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5461" y="3798560"/>
            <a:ext cx="6115218" cy="107214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03CFAC1-BF98-7E65-20AC-4CB87AE310E2}"/>
              </a:ext>
            </a:extLst>
          </p:cNvPr>
          <p:cNvSpPr txBox="1"/>
          <p:nvPr/>
        </p:nvSpPr>
        <p:spPr>
          <a:xfrm>
            <a:off x="791565" y="4966047"/>
            <a:ext cx="5043896" cy="1289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>
              <a:lnSpc>
                <a:spcPct val="150000"/>
              </a:lnSpc>
            </a:pPr>
            <a:r>
              <a:rPr lang="en-GB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Aarya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Supplier who provides the maximum number of products (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0757A3-67F4-4E80-68B7-5448B5F7D7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58" y="1955934"/>
            <a:ext cx="4885839" cy="248334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250019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15677-00BA-4A63-42F4-B2495FCF3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A2F5D-CCC7-B1CD-F7E5-DADCDB7C8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792923-44A3-B997-82F8-FCA9EBFFD0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36282" y="4739591"/>
            <a:ext cx="5200079" cy="974065"/>
          </a:xfrm>
        </p:spPr>
        <p:txBody>
          <a:bodyPr>
            <a:normAutofit/>
          </a:bodyPr>
          <a:lstStyle/>
          <a:p>
            <a:pPr marL="11430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Displaying the Average Price of Products from each Supplier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90B3B3-DE39-9206-B045-16055363585B}"/>
              </a:ext>
            </a:extLst>
          </p:cNvPr>
          <p:cNvSpPr txBox="1"/>
          <p:nvPr/>
        </p:nvSpPr>
        <p:spPr>
          <a:xfrm>
            <a:off x="462224" y="868142"/>
            <a:ext cx="116359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Q3. 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average price of products from each supplier?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32D30A-BB06-92AD-D790-3D63D81C0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282" y="3242858"/>
            <a:ext cx="5200079" cy="149673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471FCBD-1FEA-36ED-E488-20DFE3974402}"/>
              </a:ext>
            </a:extLst>
          </p:cNvPr>
          <p:cNvSpPr txBox="1"/>
          <p:nvPr/>
        </p:nvSpPr>
        <p:spPr>
          <a:xfrm>
            <a:off x="640282" y="4739591"/>
            <a:ext cx="6096000" cy="1704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>
              <a:lnSpc>
                <a:spcPct val="150000"/>
              </a:lnSpc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Sai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supplies the highest-priced products on average (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₹342.67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while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Aarav Sharma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the lowest-priced products (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₹271.37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showing variation in pricing among suppliers.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CA1C4-9ED4-976E-CE6F-EA5417E53F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282" y="1866346"/>
            <a:ext cx="5622866" cy="216660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947002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63F45-F9F7-537D-D657-EF58FDD67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65A4C-3525-27EC-C73B-41DEB3EC2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57304E-12F3-1A98-83AD-637626156C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98844" y="4858849"/>
            <a:ext cx="6084227" cy="1077217"/>
          </a:xfrm>
        </p:spPr>
        <p:txBody>
          <a:bodyPr>
            <a:normAutofit lnSpcReduction="10000"/>
          </a:bodyPr>
          <a:lstStyle/>
          <a:p>
            <a:pPr marL="114300" indent="0" algn="ctr"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Displaying the Supplier contributing the most to total Product Sales and the Revenue Percentage 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BA70FE-7B88-68E1-0457-B030E44D5B8D}"/>
              </a:ext>
            </a:extLst>
          </p:cNvPr>
          <p:cNvSpPr txBox="1"/>
          <p:nvPr/>
        </p:nvSpPr>
        <p:spPr>
          <a:xfrm>
            <a:off x="462224" y="868142"/>
            <a:ext cx="1163599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Q4. 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suppliers contribute the most to total product sales </a:t>
            </a:r>
          </a:p>
          <a:p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(by revenue)?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1B6F1B-CF80-EB81-5B18-9FF0C295E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844" y="3974626"/>
            <a:ext cx="6084226" cy="102978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CFC0236-7B24-121A-978A-DADC6A481322}"/>
              </a:ext>
            </a:extLst>
          </p:cNvPr>
          <p:cNvSpPr txBox="1"/>
          <p:nvPr/>
        </p:nvSpPr>
        <p:spPr>
          <a:xfrm>
            <a:off x="649036" y="5447796"/>
            <a:ext cx="5536620" cy="128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800" b="1" dirty="0"/>
              <a:t>Observation:</a:t>
            </a:r>
          </a:p>
          <a:p>
            <a:pPr>
              <a:lnSpc>
                <a:spcPct val="150000"/>
              </a:lnSpc>
            </a:pPr>
            <a:r>
              <a:rPr lang="en-GB" sz="1800" b="1" dirty="0" err="1"/>
              <a:t>Aarya</a:t>
            </a:r>
            <a:r>
              <a:rPr lang="en-GB" sz="1800" dirty="0"/>
              <a:t> is the top supplier, contributing </a:t>
            </a:r>
            <a:r>
              <a:rPr lang="en-GB" sz="1800" b="1" dirty="0"/>
              <a:t>40.11% </a:t>
            </a:r>
            <a:r>
              <a:rPr lang="en-GB" sz="1800" dirty="0"/>
              <a:t>of total product sales revenue.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674461-A4A6-B444-993E-7076588DFA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036" y="1945360"/>
            <a:ext cx="5160488" cy="333456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708906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3D494-C132-D12B-EB87-0406B33D8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D80B6-ECF1-8DAB-91C7-7BCEC3FC4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151091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Performance</a:t>
            </a:r>
            <a:br>
              <a:rPr lang="en-IN" sz="3600" b="1" dirty="0"/>
            </a:br>
            <a:br>
              <a:rPr lang="en-IN" sz="3600" b="1" dirty="0"/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Q1. 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employees have processed orders?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C6A71B0-0B79-4818-B77E-90EDEEA598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975073" y="3743595"/>
            <a:ext cx="479414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Displaying the total number of Employees who have processed Orders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473554-EA9C-45B3-7A2F-85EE0C546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5073" y="2960517"/>
            <a:ext cx="4794140" cy="93696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DAA8720-BEE4-4ABA-B7ED-1296BEC53F14}"/>
              </a:ext>
            </a:extLst>
          </p:cNvPr>
          <p:cNvSpPr txBox="1"/>
          <p:nvPr/>
        </p:nvSpPr>
        <p:spPr>
          <a:xfrm>
            <a:off x="1015790" y="4915916"/>
            <a:ext cx="6096000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>
              <a:lnSpc>
                <a:spcPct val="150000"/>
              </a:lnSpc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total of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employees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have processed orders in the dataset</a:t>
            </a:r>
            <a:r>
              <a:rPr lang="en-GB" dirty="0"/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AA53B7-038E-6F23-6F6F-429737F263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790" y="2748851"/>
            <a:ext cx="5699642" cy="99474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501503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979D0-4528-D772-689C-66F9C61B2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A7367-B168-E5FA-C745-402D3A113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9771B5-FAC8-B450-8BE4-8413CD6CF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67516" y="3344036"/>
            <a:ext cx="6213447" cy="1216768"/>
          </a:xfrm>
        </p:spPr>
        <p:txBody>
          <a:bodyPr>
            <a:normAutofit lnSpcReduction="10000"/>
          </a:bodyPr>
          <a:lstStyle/>
          <a:p>
            <a:pPr marL="114300" indent="0" algn="ctr">
              <a:lnSpc>
                <a:spcPct val="17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Displaying the Top 3 Employees who handled maximum number of Orders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834F2A-4530-30B4-8F0A-C7C3971C7E0E}"/>
              </a:ext>
            </a:extLst>
          </p:cNvPr>
          <p:cNvSpPr txBox="1"/>
          <p:nvPr/>
        </p:nvSpPr>
        <p:spPr>
          <a:xfrm>
            <a:off x="462224" y="868142"/>
            <a:ext cx="116359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Q2. 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employees have handled the most orders?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CCC56B-A433-0C6D-981A-17DF354CA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7516" y="1868182"/>
            <a:ext cx="6213447" cy="15608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96905D-F8DA-3E86-D8A3-88D902350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798" y="1868182"/>
            <a:ext cx="4691568" cy="225153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0498115-0BD9-1134-DB29-BAAD235F74B2}"/>
              </a:ext>
            </a:extLst>
          </p:cNvPr>
          <p:cNvSpPr txBox="1"/>
          <p:nvPr/>
        </p:nvSpPr>
        <p:spPr>
          <a:xfrm>
            <a:off x="550307" y="4391029"/>
            <a:ext cx="6410931" cy="1704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>
              <a:lnSpc>
                <a:spcPct val="150000"/>
              </a:lnSpc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top three employees handling the most orders are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Diya Sharma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(38 orders),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Aditya Singh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(37 orders), and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Arjun Kumar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(32 orders), highlighting their high contribution to order processing.</a:t>
            </a:r>
          </a:p>
        </p:txBody>
      </p:sp>
    </p:spTree>
    <p:extLst>
      <p:ext uri="{BB962C8B-B14F-4D97-AF65-F5344CB8AC3E}">
        <p14:creationId xmlns:p14="http://schemas.microsoft.com/office/powerpoint/2010/main" val="13631019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EA5C4-38C7-2334-200C-6CAB84E4E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C1F89-78FE-95C7-6A81-4F676D180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C151BF-55AF-10A9-7B93-03DD43EBF4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37753" y="4974736"/>
            <a:ext cx="5113168" cy="1119081"/>
          </a:xfrm>
        </p:spPr>
        <p:txBody>
          <a:bodyPr>
            <a:normAutofit/>
          </a:bodyPr>
          <a:lstStyle/>
          <a:p>
            <a:pPr marL="11430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Displaying the Total Sales processed by each Employee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8F74F5-D6BB-6B18-D5B1-84DDCDDFFDC3}"/>
              </a:ext>
            </a:extLst>
          </p:cNvPr>
          <p:cNvSpPr txBox="1"/>
          <p:nvPr/>
        </p:nvSpPr>
        <p:spPr>
          <a:xfrm>
            <a:off x="462224" y="868142"/>
            <a:ext cx="116359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Q3. 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total sales value processed by each employee?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3D9CF2-FF2D-8114-2FD5-D77759607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633" y="2635045"/>
            <a:ext cx="5584721" cy="233969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814A52-23AE-098F-9885-FE700636A9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543" y="1690688"/>
            <a:ext cx="5103825" cy="24439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27B7745-9900-1225-67DE-655316B39514}"/>
              </a:ext>
            </a:extLst>
          </p:cNvPr>
          <p:cNvSpPr txBox="1"/>
          <p:nvPr/>
        </p:nvSpPr>
        <p:spPr>
          <a:xfrm>
            <a:off x="616719" y="4599319"/>
            <a:ext cx="6096000" cy="1704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>
              <a:lnSpc>
                <a:spcPct val="150000"/>
              </a:lnSpc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Aditya Singh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processed the highest sales (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₹79,252.29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followed by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Zara Verma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Diya Sharma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showing that a few employees contribute significantly to total sales.</a:t>
            </a:r>
          </a:p>
        </p:txBody>
      </p:sp>
    </p:spTree>
    <p:extLst>
      <p:ext uri="{BB962C8B-B14F-4D97-AF65-F5344CB8AC3E}">
        <p14:creationId xmlns:p14="http://schemas.microsoft.com/office/powerpoint/2010/main" val="7884123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5DFA0-0712-01A2-9E08-7C9ADDE4B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75A67-BA7A-2810-B4B2-661A88AD9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ED110C-9A3E-19B8-C015-2638AFEFFE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33463" y="4109884"/>
            <a:ext cx="5296313" cy="786581"/>
          </a:xfrm>
        </p:spPr>
        <p:txBody>
          <a:bodyPr>
            <a:normAutofit/>
          </a:bodyPr>
          <a:lstStyle/>
          <a:p>
            <a:pPr marL="11430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Displaying the Average Order value handled by each Employee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ECDC15-C0AF-15E5-4BDB-769915029598}"/>
              </a:ext>
            </a:extLst>
          </p:cNvPr>
          <p:cNvSpPr txBox="1"/>
          <p:nvPr/>
        </p:nvSpPr>
        <p:spPr>
          <a:xfrm>
            <a:off x="462224" y="868142"/>
            <a:ext cx="116359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Q4. 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average order value handled per employee?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86150D-43F5-7088-61C5-A2710B916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3463" y="1690688"/>
            <a:ext cx="5296313" cy="241919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428AEE-2E80-3D7C-51E2-E899753BFA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533" y="1690687"/>
            <a:ext cx="5211514" cy="241919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D615075-9FF9-FC54-2194-295FB0BA3B4F}"/>
              </a:ext>
            </a:extLst>
          </p:cNvPr>
          <p:cNvSpPr txBox="1"/>
          <p:nvPr/>
        </p:nvSpPr>
        <p:spPr>
          <a:xfrm>
            <a:off x="570269" y="4707104"/>
            <a:ext cx="6331975" cy="1704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>
              <a:lnSpc>
                <a:spcPct val="150000"/>
              </a:lnSpc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Aarav Kumar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the highest average order value (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₹1,073.53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followed by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Aditya Singh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₹1,003.19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Diya Sharma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₹988.85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indicating they handle higher-value orders on average.</a:t>
            </a:r>
          </a:p>
        </p:txBody>
      </p:sp>
    </p:spTree>
    <p:extLst>
      <p:ext uri="{BB962C8B-B14F-4D97-AF65-F5344CB8AC3E}">
        <p14:creationId xmlns:p14="http://schemas.microsoft.com/office/powerpoint/2010/main" val="21389358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249E5-A755-EAA3-2CEC-FD7063B0A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BDD9C-60DF-E72E-F9C8-9443DA8C1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72859" cy="2151091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Details Deep Dive</a:t>
            </a:r>
            <a:br>
              <a:rPr lang="en-IN" sz="3600" b="1" dirty="0"/>
            </a:br>
            <a:br>
              <a:rPr lang="en-IN" sz="3600" b="1" dirty="0"/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Q1. 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relationship between quantity ordered and total price?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4CBCE6A-2AB2-78E4-81A0-0247A429D0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69044" y="5426268"/>
            <a:ext cx="572644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Displaying the relationship between quantity ordered and total price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A7BCF6-D195-650B-1EB8-55CD5509C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9045" y="3788899"/>
            <a:ext cx="5726444" cy="162810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3DE940B-BA71-3DD8-A008-1B0E0175952F}"/>
              </a:ext>
            </a:extLst>
          </p:cNvPr>
          <p:cNvSpPr txBox="1"/>
          <p:nvPr/>
        </p:nvSpPr>
        <p:spPr>
          <a:xfrm>
            <a:off x="695326" y="4465940"/>
            <a:ext cx="5318691" cy="96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>
              <a:lnSpc>
                <a:spcPct val="150000"/>
              </a:lnSpc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Price increases with increasing Quantity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FF877A-51CF-F4A3-8327-47113F3A74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266" y="2633521"/>
            <a:ext cx="5230812" cy="170826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998355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15659-5329-B744-BB63-EB8236A42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74455-6A2E-3766-9617-DF622ADD7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E4729C-DED7-3376-32BB-CBFBC7527A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8931" y="5096914"/>
            <a:ext cx="5144693" cy="1325563"/>
          </a:xfrm>
        </p:spPr>
        <p:txBody>
          <a:bodyPr>
            <a:noAutofit/>
          </a:bodyPr>
          <a:lstStyle/>
          <a:p>
            <a:pPr marL="114300" indent="0" algn="ctr">
              <a:lnSpc>
                <a:spcPct val="170000"/>
              </a:lnSpc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Displaying the Average quantity ordered for each product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B2DE51-172E-9B3A-E9CA-D95EDECD3422}"/>
              </a:ext>
            </a:extLst>
          </p:cNvPr>
          <p:cNvSpPr txBox="1"/>
          <p:nvPr/>
        </p:nvSpPr>
        <p:spPr>
          <a:xfrm>
            <a:off x="462224" y="868142"/>
            <a:ext cx="116359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Q2. 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average quantity ordered per product?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FD3D4C-6B89-5687-9D1D-42362AA4C9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3314" y="1585451"/>
            <a:ext cx="3970225" cy="368709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33C824-53E9-73DD-ABB2-5548E1744B24}"/>
              </a:ext>
            </a:extLst>
          </p:cNvPr>
          <p:cNvSpPr txBox="1"/>
          <p:nvPr/>
        </p:nvSpPr>
        <p:spPr>
          <a:xfrm>
            <a:off x="718461" y="4212514"/>
            <a:ext cx="6096000" cy="212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>
              <a:lnSpc>
                <a:spcPct val="150000"/>
              </a:lnSpc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Products like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Butter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(4.56 units),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Potato Chips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(3.6), and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Toothpaste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(3.67) have the highest average quantities per order, while items like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Soybean Oil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(1.64) and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Cardamom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(2.25) are ordered in smaller quantities on average.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7E01EAE-D191-16D8-07F9-A20EF38C4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931" y="1690688"/>
            <a:ext cx="6096000" cy="205805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596051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58A18-4632-DCAD-C92D-328F00B80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EF31B-A9F6-DC20-CA5F-EDDABDBB5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D8B592-DE83-F38B-FD5A-8A65BA118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52481" y="5167312"/>
            <a:ext cx="5645734" cy="1325563"/>
          </a:xfrm>
        </p:spPr>
        <p:txBody>
          <a:bodyPr>
            <a:noAutofit/>
          </a:bodyPr>
          <a:lstStyle/>
          <a:p>
            <a:pPr marL="114300" indent="0" algn="ctr">
              <a:lnSpc>
                <a:spcPct val="170000"/>
              </a:lnSpc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Displaying the unit price across products and orders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D37547-C447-E47F-A39F-239241C821DA}"/>
              </a:ext>
            </a:extLst>
          </p:cNvPr>
          <p:cNvSpPr txBox="1"/>
          <p:nvPr/>
        </p:nvSpPr>
        <p:spPr>
          <a:xfrm>
            <a:off x="462224" y="868142"/>
            <a:ext cx="116359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Q3. 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the unit price vary across products and orders?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28074D-37B2-6ED6-4CBB-37D8DBDFE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5456" y="1564803"/>
            <a:ext cx="4603815" cy="372839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D55C1A5-0F79-4294-8A54-D598FC743B2C}"/>
              </a:ext>
            </a:extLst>
          </p:cNvPr>
          <p:cNvSpPr txBox="1"/>
          <p:nvPr/>
        </p:nvSpPr>
        <p:spPr>
          <a:xfrm>
            <a:off x="560303" y="4609218"/>
            <a:ext cx="5719916" cy="1883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>
              <a:lnSpc>
                <a:spcPct val="150000"/>
              </a:lnSpc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the minimum, maximum and Average Price are same across all the Products, there is no variation in Orders.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A65F87-A5E7-82CB-5F50-26AC1E6082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68" y="1690687"/>
            <a:ext cx="5434832" cy="280583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124054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35231-1CD4-BED0-70F4-5E262D87D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0B91DB-2260-DA81-F0D4-B2BC01DF58BA}"/>
              </a:ext>
            </a:extLst>
          </p:cNvPr>
          <p:cNvSpPr txBox="1"/>
          <p:nvPr/>
        </p:nvSpPr>
        <p:spPr>
          <a:xfrm>
            <a:off x="773722" y="321548"/>
            <a:ext cx="9495693" cy="4653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en-GB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  <a:endParaRPr lang="en-GB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small group of customers contributes largely towards total orders count.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Certain products have consistently higher sales, making them top performing products.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increase as the quantity ordered increases.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suppliers contribute significantly more to total revenue than others.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performance varies, with a few employees handling most of the orders.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patterns don’t differ much on weekdays and weekends, showing consistency in customer behaviour.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09084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FCD48-18F6-44E3-75A9-C7BFEB3E2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154A32-080D-AB24-BB59-967C346DDD14}"/>
              </a:ext>
            </a:extLst>
          </p:cNvPr>
          <p:cNvSpPr txBox="1"/>
          <p:nvPr/>
        </p:nvSpPr>
        <p:spPr>
          <a:xfrm>
            <a:off x="773723" y="321548"/>
            <a:ext cx="10641204" cy="3730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en-GB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faced:</a:t>
            </a:r>
            <a:endParaRPr lang="en-GB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date formats and converting them for analysis. </a:t>
            </a:r>
          </a:p>
          <a:p>
            <a:pPr marL="342900" indent="-34290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Writing complex SQL queries involving multiple joins. </a:t>
            </a:r>
          </a:p>
          <a:p>
            <a:pPr marL="342900" indent="-34290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aggregations like SUM, AVG, and GROUP BY correctly. </a:t>
            </a:r>
          </a:p>
          <a:p>
            <a:pPr marL="342900" indent="-34290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data consistency using primary and foreign keys. </a:t>
            </a:r>
          </a:p>
          <a:p>
            <a:pPr marL="342900" indent="-34290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relationships between tables while building queries.</a:t>
            </a:r>
          </a:p>
        </p:txBody>
      </p:sp>
    </p:spTree>
    <p:extLst>
      <p:ext uri="{BB962C8B-B14F-4D97-AF65-F5344CB8AC3E}">
        <p14:creationId xmlns:p14="http://schemas.microsoft.com/office/powerpoint/2010/main" val="40530274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09417-8D03-FAD8-5524-7A8BDCF5F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F35E73-5F94-9B2F-783F-0DF535D807C3}"/>
              </a:ext>
            </a:extLst>
          </p:cNvPr>
          <p:cNvSpPr txBox="1"/>
          <p:nvPr/>
        </p:nvSpPr>
        <p:spPr>
          <a:xfrm>
            <a:off x="775398" y="1497205"/>
            <a:ext cx="10307934" cy="4653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 how SQL can be used to transform raw data into meaningful business insights.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structured queries, important aspects like customer behaviour, product performance, sales trends, supplier contribution, and employee efficiency were analysed.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helped in identifying top customers, best-selling products, and key revenue drivers.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also highlighted patterns in sales and operational performance that support better decision-making.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this project strengthened our practical knowledge of SQL, especially in joins, aggregations, and real-world data analysis.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BD5F11-E9DA-2873-C8EB-9F9AF4C51F67}"/>
              </a:ext>
            </a:extLst>
          </p:cNvPr>
          <p:cNvSpPr txBox="1"/>
          <p:nvPr/>
        </p:nvSpPr>
        <p:spPr>
          <a:xfrm>
            <a:off x="775398" y="643095"/>
            <a:ext cx="5896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</p:txBody>
      </p:sp>
    </p:spTree>
    <p:extLst>
      <p:ext uri="{BB962C8B-B14F-4D97-AF65-F5344CB8AC3E}">
        <p14:creationId xmlns:p14="http://schemas.microsoft.com/office/powerpoint/2010/main" val="21738840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3155</TotalTime>
  <Words>1868</Words>
  <Application>Microsoft Office PowerPoint</Application>
  <PresentationFormat>Widescreen</PresentationFormat>
  <Paragraphs>202</Paragraphs>
  <Slides>39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Times New Roman</vt:lpstr>
      <vt:lpstr>Lato Black</vt:lpstr>
      <vt:lpstr>Calibri</vt:lpstr>
      <vt:lpstr>Libre Baskerville</vt:lpstr>
      <vt:lpstr>Arial</vt:lpstr>
      <vt:lpstr>Office Theme</vt:lpstr>
      <vt:lpstr>PowerPoint Presentation</vt:lpstr>
      <vt:lpstr>PowerPoint Presentation</vt:lpstr>
      <vt:lpstr>PowerPoint Presentation</vt:lpstr>
      <vt:lpstr>Tools &amp; Technologies</vt:lpstr>
      <vt:lpstr>Database Creation</vt:lpstr>
      <vt:lpstr>Tables Created</vt:lpstr>
      <vt:lpstr>Table Structure</vt:lpstr>
      <vt:lpstr>EER Diagram </vt:lpstr>
      <vt:lpstr>EER Diagram </vt:lpstr>
      <vt:lpstr>ANALYSIS SECTION</vt:lpstr>
      <vt:lpstr>1. Customer Insights  Q1. How many unique customers have placed orders?</vt:lpstr>
      <vt:lpstr> </vt:lpstr>
      <vt:lpstr> </vt:lpstr>
      <vt:lpstr> </vt:lpstr>
      <vt:lpstr>2. Product Performance  Q1. How many products exist in each category?</vt:lpstr>
      <vt:lpstr> </vt:lpstr>
      <vt:lpstr> </vt:lpstr>
      <vt:lpstr> </vt:lpstr>
      <vt:lpstr> </vt:lpstr>
      <vt:lpstr>3. Sales and Order Trends  Q1. How many orders have been placed in total?</vt:lpstr>
      <vt:lpstr> </vt:lpstr>
      <vt:lpstr> </vt:lpstr>
      <vt:lpstr> </vt:lpstr>
      <vt:lpstr> </vt:lpstr>
      <vt:lpstr>4. Supplier Contribution  Q1. How many suppliers are there in the database?</vt:lpstr>
      <vt:lpstr> </vt:lpstr>
      <vt:lpstr> </vt:lpstr>
      <vt:lpstr> </vt:lpstr>
      <vt:lpstr>5. Employee Performance  Q1. How many employees have processed orders?</vt:lpstr>
      <vt:lpstr> </vt:lpstr>
      <vt:lpstr> </vt:lpstr>
      <vt:lpstr> </vt:lpstr>
      <vt:lpstr>6. Order Details Deep Dive  Q1. What is the relationship between quantity ordered and total price?</vt:lpstr>
      <vt:lpstr> </vt:lpstr>
      <vt:lpstr>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Arjun Naluvala</cp:lastModifiedBy>
  <cp:revision>8</cp:revision>
  <dcterms:created xsi:type="dcterms:W3CDTF">2021-02-16T05:19:01Z</dcterms:created>
  <dcterms:modified xsi:type="dcterms:W3CDTF">2026-05-11T20:41:20Z</dcterms:modified>
</cp:coreProperties>
</file>